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62" r:id="rId2"/>
    <p:sldId id="264" r:id="rId3"/>
    <p:sldId id="265" r:id="rId4"/>
    <p:sldId id="269" r:id="rId5"/>
    <p:sldId id="268" r:id="rId6"/>
    <p:sldId id="267" r:id="rId7"/>
    <p:sldId id="266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Medium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Space Grotesk" panose="020B0604020202020204" charset="0"/>
      <p:regular r:id="rId22"/>
      <p:bold r:id="rId23"/>
    </p:embeddedFont>
    <p:embeddedFont>
      <p:font typeface="Space Grotesk SemiBold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4AE4BF"/>
    <a:srgbClr val="85F7E1"/>
    <a:srgbClr val="7FA59F"/>
    <a:srgbClr val="0F766E"/>
    <a:srgbClr val="B87333"/>
    <a:srgbClr val="1C1C1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DBA2D33-C22A-1E27-40B6-958CEF111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5293" y="2169748"/>
            <a:ext cx="7958366" cy="1863032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Exploiting Retrieval Latency Side-Channels in RAG Systems</a:t>
            </a:r>
            <a:endParaRPr lang="es-E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459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Google Shape;85;p13">
            <a:extLst>
              <a:ext uri="{FF2B5EF4-FFF2-40B4-BE49-F238E27FC236}">
                <a16:creationId xmlns:a16="http://schemas.microsoft.com/office/drawing/2014/main" id="{103426FD-22B9-4EDE-FD04-8F185D07D890}"/>
              </a:ext>
            </a:extLst>
          </p:cNvPr>
          <p:cNvSpPr txBox="1"/>
          <p:nvPr/>
        </p:nvSpPr>
        <p:spPr>
          <a:xfrm>
            <a:off x="1148349" y="549328"/>
            <a:ext cx="9892254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Objective: </a:t>
            </a:r>
            <a:r>
              <a:rPr lang="en-US" sz="4200" b="1" i="0" u="none" strike="noStrike" cap="none" dirty="0">
                <a:solidFill>
                  <a:srgbClr val="85F7E1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Timing Side-Channel in RAG</a:t>
            </a:r>
            <a:endParaRPr dirty="0">
              <a:solidFill>
                <a:srgbClr val="85F7E1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6A44EA3-6217-369B-0984-50A680EEF540}"/>
              </a:ext>
            </a:extLst>
          </p:cNvPr>
          <p:cNvSpPr/>
          <p:nvPr/>
        </p:nvSpPr>
        <p:spPr>
          <a:xfrm>
            <a:off x="336151" y="1603321"/>
            <a:ext cx="5433053" cy="4929453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Google Shape;87;p13">
            <a:extLst>
              <a:ext uri="{FF2B5EF4-FFF2-40B4-BE49-F238E27FC236}">
                <a16:creationId xmlns:a16="http://schemas.microsoft.com/office/drawing/2014/main" id="{994EEA97-90AD-7A62-B2A9-DC484FE10ACB}"/>
              </a:ext>
            </a:extLst>
          </p:cNvPr>
          <p:cNvSpPr txBox="1"/>
          <p:nvPr/>
        </p:nvSpPr>
        <p:spPr>
          <a:xfrm>
            <a:off x="575562" y="1934312"/>
            <a:ext cx="495016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Main Goal:</a:t>
            </a:r>
            <a:r>
              <a:rPr lang="en-US" sz="1800" b="0" i="0" u="none" strike="noStrike" cap="none" dirty="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Infer the presence, frequency, and semantic distribution of private terms within a RAG system.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FF0317E4-994E-3415-04A4-C80F88C85368}"/>
              </a:ext>
            </a:extLst>
          </p:cNvPr>
          <p:cNvSpPr txBox="1"/>
          <p:nvPr/>
        </p:nvSpPr>
        <p:spPr>
          <a:xfrm>
            <a:off x="571500" y="3394348"/>
            <a:ext cx="495422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Attack Vector:</a:t>
            </a:r>
            <a:r>
              <a:rPr lang="en-US" sz="1800" b="0" i="0" u="none" strike="noStrike" cap="none" dirty="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Exploit query latency variances in Vector Databases (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ChromaDB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) during structural graph traversals.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7" name="Google Shape;89;p13">
            <a:extLst>
              <a:ext uri="{FF2B5EF4-FFF2-40B4-BE49-F238E27FC236}">
                <a16:creationId xmlns:a16="http://schemas.microsoft.com/office/drawing/2014/main" id="{47F5E857-39C7-307A-B17E-9361A8B36038}"/>
              </a:ext>
            </a:extLst>
          </p:cNvPr>
          <p:cNvSpPr txBox="1"/>
          <p:nvPr/>
        </p:nvSpPr>
        <p:spPr>
          <a:xfrm>
            <a:off x="571500" y="5018961"/>
            <a:ext cx="4954229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Threat Model:</a:t>
            </a:r>
            <a:r>
              <a:rPr lang="en-US" sz="1650" b="0" i="0" u="none" strike="noStrike" cap="none" dirty="0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Zero-knowledge attacker. No direct DB access or metadata extraction, relying purely on measuring response times.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1A91049-F666-0CD3-D9BF-9794E58610ED}"/>
              </a:ext>
            </a:extLst>
          </p:cNvPr>
          <p:cNvSpPr/>
          <p:nvPr/>
        </p:nvSpPr>
        <p:spPr>
          <a:xfrm>
            <a:off x="6286610" y="2116562"/>
            <a:ext cx="5433053" cy="3885167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BC926BCE-305F-153C-6E5A-403B99AC1D33}"/>
              </a:ext>
            </a:extLst>
          </p:cNvPr>
          <p:cNvSpPr txBox="1"/>
          <p:nvPr/>
        </p:nvSpPr>
        <p:spPr>
          <a:xfrm>
            <a:off x="6551998" y="2468495"/>
            <a:ext cx="4862589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dirty="0">
                <a:solidFill>
                  <a:srgbClr val="7F7F7F"/>
                </a:solidFill>
                <a:latin typeface="Inter"/>
                <a:ea typeface="Inter"/>
              </a:rPr>
              <a:t>The Side-Channel Loop:</a:t>
            </a:r>
          </a:p>
          <a:p>
            <a:endParaRPr lang="en-US" sz="1800" dirty="0">
              <a:solidFill>
                <a:srgbClr val="7F7F7F"/>
              </a:solidFill>
              <a:latin typeface="Inter"/>
              <a:ea typeface="Inter"/>
            </a:endParaRPr>
          </a:p>
          <a:p>
            <a:pPr marL="342900" indent="-342900"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Inter"/>
                <a:ea typeface="Inter"/>
              </a:rPr>
              <a:t>Inject: Send contextually crafted prompts to the LLM.</a:t>
            </a:r>
          </a:p>
          <a:p>
            <a:pPr marL="342900" indent="-342900"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Inter"/>
                <a:ea typeface="Inter"/>
              </a:rPr>
              <a:t>Measure: Record the microsecond latency of the retrieval phase.</a:t>
            </a:r>
          </a:p>
          <a:p>
            <a:pPr marL="342900" indent="-342900"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Inter"/>
                <a:ea typeface="Inter"/>
              </a:rPr>
              <a:t>Analyze: Map the timing deviations against statistical thresholds.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Inter"/>
                <a:ea typeface="Inter"/>
              </a:rPr>
              <a:t>Infer: Reconstruct the hidden semantic density of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79807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" name="Google Shape;101;p14">
            <a:extLst>
              <a:ext uri="{FF2B5EF4-FFF2-40B4-BE49-F238E27FC236}">
                <a16:creationId xmlns:a16="http://schemas.microsoft.com/office/drawing/2014/main" id="{2875BACD-D6BB-0BB5-497F-CE07B315EAE3}"/>
              </a:ext>
            </a:extLst>
          </p:cNvPr>
          <p:cNvSpPr txBox="1"/>
          <p:nvPr/>
        </p:nvSpPr>
        <p:spPr>
          <a:xfrm>
            <a:off x="1751364" y="441759"/>
            <a:ext cx="85913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Experimental Setup: </a:t>
            </a:r>
            <a:r>
              <a:rPr lang="en-US" sz="3600" b="1" i="0" u="none" strike="noStrike" cap="none" dirty="0">
                <a:solidFill>
                  <a:srgbClr val="85F7E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Models &amp; Dataset</a:t>
            </a:r>
            <a:endParaRPr dirty="0">
              <a:solidFill>
                <a:srgbClr val="85F7E1"/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167DB5BE-805E-A52C-C9FF-C1DEAB18C63B}"/>
              </a:ext>
            </a:extLst>
          </p:cNvPr>
          <p:cNvSpPr/>
          <p:nvPr/>
        </p:nvSpPr>
        <p:spPr>
          <a:xfrm>
            <a:off x="613015" y="1590853"/>
            <a:ext cx="3339053" cy="4705350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0A3DC8A7-FE58-691D-FE99-91D2A427CAE1}"/>
              </a:ext>
            </a:extLst>
          </p:cNvPr>
          <p:cNvSpPr/>
          <p:nvPr/>
        </p:nvSpPr>
        <p:spPr>
          <a:xfrm>
            <a:off x="8148856" y="1590853"/>
            <a:ext cx="3339053" cy="4705350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Google Shape;103;p14">
            <a:extLst>
              <a:ext uri="{FF2B5EF4-FFF2-40B4-BE49-F238E27FC236}">
                <a16:creationId xmlns:a16="http://schemas.microsoft.com/office/drawing/2014/main" id="{E9E2EB3B-1367-2516-6C34-55C4016AC248}"/>
              </a:ext>
            </a:extLst>
          </p:cNvPr>
          <p:cNvSpPr txBox="1"/>
          <p:nvPr/>
        </p:nvSpPr>
        <p:spPr>
          <a:xfrm>
            <a:off x="1915159" y="2099126"/>
            <a:ext cx="157863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4AE4B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Corpus &amp; DB</a:t>
            </a:r>
            <a:endParaRPr dirty="0">
              <a:solidFill>
                <a:srgbClr val="4AE4BF"/>
              </a:solidFill>
            </a:endParaRPr>
          </a:p>
        </p:txBody>
      </p:sp>
      <p:sp>
        <p:nvSpPr>
          <p:cNvPr id="13" name="Google Shape;104;p14">
            <a:extLst>
              <a:ext uri="{FF2B5EF4-FFF2-40B4-BE49-F238E27FC236}">
                <a16:creationId xmlns:a16="http://schemas.microsoft.com/office/drawing/2014/main" id="{06EC33E8-5C3D-0738-D1C6-8DF0DE070A4C}"/>
              </a:ext>
            </a:extLst>
          </p:cNvPr>
          <p:cNvSpPr txBox="1"/>
          <p:nvPr/>
        </p:nvSpPr>
        <p:spPr>
          <a:xfrm>
            <a:off x="916634" y="2736502"/>
            <a:ext cx="2838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i="0" strike="noStrike" cap="none" dirty="0">
                <a:solidFill>
                  <a:srgbClr val="7FA59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Corpus</a:t>
            </a:r>
            <a:r>
              <a:rPr lang="en-US" sz="1500" b="0" i="0" u="none" strike="noStrike" cap="none" dirty="0">
                <a:solidFill>
                  <a:srgbClr val="7FA59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500" b="0" i="0" u="none" strike="noStrike" cap="none" dirty="0">
                <a:solidFill>
                  <a:srgbClr val="7FA59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dirty="0" err="1">
                <a:solidFill>
                  <a:schemeClr val="bg1"/>
                </a:solidFill>
                <a:latin typeface="Inter"/>
                <a:ea typeface="Inter"/>
              </a:rPr>
              <a:t>emozilla</a:t>
            </a:r>
            <a:r>
              <a:rPr lang="en-US" sz="1500" b="1" dirty="0">
                <a:solidFill>
                  <a:schemeClr val="bg1"/>
                </a:solidFill>
                <a:latin typeface="Inter"/>
                <a:ea typeface="Inter"/>
              </a:rPr>
              <a:t>/pg19 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</a:rPr>
              <a:t>dataset (Project Gutenberg Books). Processed into fixed 1000-character chunks. </a:t>
            </a:r>
            <a:endParaRPr sz="1500" dirty="0">
              <a:solidFill>
                <a:schemeClr val="bg1"/>
              </a:solidFill>
              <a:latin typeface="Inter"/>
              <a:ea typeface="Inter"/>
            </a:endParaRPr>
          </a:p>
        </p:txBody>
      </p:sp>
      <p:sp>
        <p:nvSpPr>
          <p:cNvPr id="22" name="Google Shape;105;p14">
            <a:extLst>
              <a:ext uri="{FF2B5EF4-FFF2-40B4-BE49-F238E27FC236}">
                <a16:creationId xmlns:a16="http://schemas.microsoft.com/office/drawing/2014/main" id="{59D9017C-3743-B0EF-7689-A819D7187F9A}"/>
              </a:ext>
            </a:extLst>
          </p:cNvPr>
          <p:cNvSpPr txBox="1"/>
          <p:nvPr/>
        </p:nvSpPr>
        <p:spPr>
          <a:xfrm>
            <a:off x="889208" y="4625955"/>
            <a:ext cx="2838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500" b="0" i="0" u="none" strike="noStrike" cap="none" dirty="0">
                <a:solidFill>
                  <a:srgbClr val="7FA59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Database:</a:t>
            </a:r>
            <a:r>
              <a:rPr lang="en-US" sz="1500" b="0" i="0" u="none" strike="noStrike" cap="none" dirty="0">
                <a:solidFill>
                  <a:srgbClr val="7FA59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ChromaDB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utilizing default 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HNSW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(Hierarchical Navigable 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Small World) </a:t>
            </a:r>
            <a:r>
              <a:rPr lang="es-ES" sz="1500" dirty="0" err="1">
                <a:solidFill>
                  <a:schemeClr val="bg1"/>
                </a:solidFill>
                <a:latin typeface="Inter"/>
                <a:ea typeface="Inter"/>
              </a:rPr>
              <a:t>algorithm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.</a:t>
            </a:r>
            <a:endParaRPr sz="1500" dirty="0">
              <a:solidFill>
                <a:schemeClr val="bg1"/>
              </a:solidFill>
              <a:latin typeface="Inter"/>
              <a:ea typeface="Inter"/>
            </a:endParaRPr>
          </a:p>
        </p:txBody>
      </p:sp>
      <p:sp>
        <p:nvSpPr>
          <p:cNvPr id="31" name="Google Shape;111;p14">
            <a:extLst>
              <a:ext uri="{FF2B5EF4-FFF2-40B4-BE49-F238E27FC236}">
                <a16:creationId xmlns:a16="http://schemas.microsoft.com/office/drawing/2014/main" id="{F70A25FB-96E6-EA2A-A956-EBAA8403FB49}"/>
              </a:ext>
            </a:extLst>
          </p:cNvPr>
          <p:cNvSpPr txBox="1"/>
          <p:nvPr/>
        </p:nvSpPr>
        <p:spPr>
          <a:xfrm>
            <a:off x="9490811" y="2211861"/>
            <a:ext cx="17037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None/>
              <a:defRPr sz="2100">
                <a:solidFill>
                  <a:srgbClr val="4AE4BF"/>
                </a:solidFill>
                <a:latin typeface="Space Grotesk SemiBold"/>
                <a:ea typeface="Space Grotesk SemiBold"/>
                <a:cs typeface="Space Grotesk SemiBold"/>
              </a:defRPr>
            </a:lvl1pPr>
          </a:lstStyle>
          <a:p>
            <a:r>
              <a:rPr lang="en-US" dirty="0">
                <a:sym typeface="Space Grotesk SemiBold"/>
              </a:rPr>
              <a:t>LLMs Tested</a:t>
            </a:r>
            <a:endParaRPr dirty="0"/>
          </a:p>
        </p:txBody>
      </p:sp>
      <p:sp>
        <p:nvSpPr>
          <p:cNvPr id="32" name="Google Shape;112;p14">
            <a:extLst>
              <a:ext uri="{FF2B5EF4-FFF2-40B4-BE49-F238E27FC236}">
                <a16:creationId xmlns:a16="http://schemas.microsoft.com/office/drawing/2014/main" id="{02CAEFA1-69C8-7406-1F79-E731710B0097}"/>
              </a:ext>
            </a:extLst>
          </p:cNvPr>
          <p:cNvSpPr txBox="1"/>
          <p:nvPr/>
        </p:nvSpPr>
        <p:spPr>
          <a:xfrm>
            <a:off x="8475367" y="2693080"/>
            <a:ext cx="28384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rgbClr val="7FA59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Large Model:</a:t>
            </a:r>
            <a:r>
              <a:rPr lang="en-US" sz="1500" b="0" i="0" u="none" strike="noStrike" cap="none" dirty="0">
                <a:solidFill>
                  <a:srgbClr val="7FA59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Qwen-2.5-7B-Instruct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Large production model. High inference time acts as noise, masking database latency.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3" name="Google Shape;113;p14">
            <a:extLst>
              <a:ext uri="{FF2B5EF4-FFF2-40B4-BE49-F238E27FC236}">
                <a16:creationId xmlns:a16="http://schemas.microsoft.com/office/drawing/2014/main" id="{7885597B-6C47-1AC7-6D1B-B2CA2D6C75D3}"/>
              </a:ext>
            </a:extLst>
          </p:cNvPr>
          <p:cNvSpPr txBox="1"/>
          <p:nvPr/>
        </p:nvSpPr>
        <p:spPr>
          <a:xfrm>
            <a:off x="8472319" y="4449543"/>
            <a:ext cx="28384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rgbClr val="7FA59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Tiny Model:</a:t>
            </a:r>
            <a:r>
              <a:rPr lang="en-US" sz="1500" b="0" i="0" u="none" strike="noStrike" cap="none" dirty="0">
                <a:solidFill>
                  <a:srgbClr val="7FA59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SmolLM2-135M-Instruct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 Tiny constrained model. Minimal generation time successfully isolates and exposes pure retrieval delays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B16C870-ED15-F2A5-128E-EE27BC84D342}"/>
              </a:ext>
            </a:extLst>
          </p:cNvPr>
          <p:cNvSpPr/>
          <p:nvPr/>
        </p:nvSpPr>
        <p:spPr>
          <a:xfrm>
            <a:off x="889208" y="1826267"/>
            <a:ext cx="762000" cy="736218"/>
          </a:xfrm>
          <a:prstGeom prst="roundRect">
            <a:avLst/>
          </a:prstGeom>
          <a:solidFill>
            <a:srgbClr val="4AE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3" name="Gráfico 2" descr="Base de datos contorno">
            <a:extLst>
              <a:ext uri="{FF2B5EF4-FFF2-40B4-BE49-F238E27FC236}">
                <a16:creationId xmlns:a16="http://schemas.microsoft.com/office/drawing/2014/main" id="{03F10A46-E705-DE64-7B57-0BF40E9D3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614" y="1822255"/>
            <a:ext cx="744243" cy="744243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9D99AE44-29A6-961A-FBBB-B94491F57AB2}"/>
              </a:ext>
            </a:extLst>
          </p:cNvPr>
          <p:cNvSpPr/>
          <p:nvPr/>
        </p:nvSpPr>
        <p:spPr>
          <a:xfrm>
            <a:off x="8475367" y="1911265"/>
            <a:ext cx="762000" cy="736218"/>
          </a:xfrm>
          <a:prstGeom prst="roundRect">
            <a:avLst/>
          </a:prstGeom>
          <a:solidFill>
            <a:srgbClr val="4AE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2E53DBFA-7681-9C6D-25DD-9EA3D69F7519}"/>
              </a:ext>
            </a:extLst>
          </p:cNvPr>
          <p:cNvSpPr/>
          <p:nvPr/>
        </p:nvSpPr>
        <p:spPr>
          <a:xfrm>
            <a:off x="4378254" y="1590852"/>
            <a:ext cx="3339053" cy="4705350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1" name="Gráfico 40" descr="Procesador contorno">
            <a:extLst>
              <a:ext uri="{FF2B5EF4-FFF2-40B4-BE49-F238E27FC236}">
                <a16:creationId xmlns:a16="http://schemas.microsoft.com/office/drawing/2014/main" id="{FB957A2C-432C-851A-0B5B-7C2582A2A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8553" y="1913535"/>
            <a:ext cx="715627" cy="715627"/>
          </a:xfrm>
          <a:prstGeom prst="rect">
            <a:avLst/>
          </a:prstGeom>
        </p:spPr>
      </p:pic>
      <p:sp>
        <p:nvSpPr>
          <p:cNvPr id="26" name="Google Shape;107;p14">
            <a:extLst>
              <a:ext uri="{FF2B5EF4-FFF2-40B4-BE49-F238E27FC236}">
                <a16:creationId xmlns:a16="http://schemas.microsoft.com/office/drawing/2014/main" id="{7B63F40C-E4E9-F07E-7591-E627A20CCAF0}"/>
              </a:ext>
            </a:extLst>
          </p:cNvPr>
          <p:cNvSpPr txBox="1"/>
          <p:nvPr/>
        </p:nvSpPr>
        <p:spPr>
          <a:xfrm>
            <a:off x="5771649" y="2214402"/>
            <a:ext cx="161426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2100">
                <a:solidFill>
                  <a:srgbClr val="4AE4BF"/>
                </a:solidFill>
                <a:latin typeface="Space Grotesk SemiBold"/>
                <a:ea typeface="Space Grotesk SemiBold"/>
                <a:cs typeface="Space Grotesk SemiBold"/>
              </a:defRPr>
            </a:lvl1pPr>
          </a:lstStyle>
          <a:p>
            <a:r>
              <a:rPr lang="en-US" dirty="0">
                <a:sym typeface="Space Grotesk SemiBold"/>
              </a:rPr>
              <a:t>Embeddings</a:t>
            </a:r>
            <a:endParaRPr dirty="0"/>
          </a:p>
        </p:txBody>
      </p:sp>
      <p:sp>
        <p:nvSpPr>
          <p:cNvPr id="27" name="Google Shape;109;p14">
            <a:extLst>
              <a:ext uri="{FF2B5EF4-FFF2-40B4-BE49-F238E27FC236}">
                <a16:creationId xmlns:a16="http://schemas.microsoft.com/office/drawing/2014/main" id="{97515119-88C9-5500-9632-B25A65A12EC4}"/>
              </a:ext>
            </a:extLst>
          </p:cNvPr>
          <p:cNvSpPr txBox="1"/>
          <p:nvPr/>
        </p:nvSpPr>
        <p:spPr>
          <a:xfrm>
            <a:off x="4676775" y="2753796"/>
            <a:ext cx="283845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s-ES" sz="1500" dirty="0" err="1">
                <a:solidFill>
                  <a:srgbClr val="7F7F7F"/>
                </a:solidFill>
                <a:latin typeface="Inter"/>
                <a:ea typeface="Inter"/>
              </a:rPr>
              <a:t>Model</a:t>
            </a:r>
            <a:r>
              <a:rPr lang="es-ES" sz="1500" dirty="0">
                <a:solidFill>
                  <a:srgbClr val="7F7F7F"/>
                </a:solidFill>
                <a:latin typeface="Inter"/>
                <a:ea typeface="Inter"/>
              </a:rPr>
              <a:t>: </a:t>
            </a:r>
            <a:r>
              <a:rPr lang="es-ES" sz="1500" b="1" dirty="0">
                <a:solidFill>
                  <a:schemeClr val="bg1"/>
                </a:solidFill>
                <a:latin typeface="Inter"/>
                <a:ea typeface="Inter"/>
              </a:rPr>
              <a:t>all-MiniLM-L6-v</a:t>
            </a: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chemeClr val="bg1"/>
                </a:solidFill>
                <a:latin typeface="Inter"/>
                <a:ea typeface="Inter"/>
              </a:rPr>
              <a:t>Maps textual chunks into a 384-dimensional dense vector space optimized for semantic similarity.</a:t>
            </a:r>
          </a:p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chemeClr val="bg1"/>
                </a:solidFill>
                <a:latin typeface="Inter"/>
                <a:ea typeface="Inter"/>
              </a:rPr>
              <a:t>Clusters high-frequency terms tightly, creating the physical density variations exploited during the attack.</a:t>
            </a:r>
            <a:endParaRPr sz="1500" dirty="0">
              <a:solidFill>
                <a:schemeClr val="bg1"/>
              </a:solidFill>
              <a:latin typeface="Inter"/>
              <a:ea typeface="Inter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AF0694C-1FA9-7450-CB00-2BB8F8FCD23E}"/>
              </a:ext>
            </a:extLst>
          </p:cNvPr>
          <p:cNvSpPr/>
          <p:nvPr/>
        </p:nvSpPr>
        <p:spPr>
          <a:xfrm>
            <a:off x="4741449" y="1905781"/>
            <a:ext cx="762000" cy="736218"/>
          </a:xfrm>
          <a:prstGeom prst="roundRect">
            <a:avLst/>
          </a:prstGeom>
          <a:solidFill>
            <a:srgbClr val="4AE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9" name="Gráfico 38" descr="Bandeja de entrada contorno">
            <a:extLst>
              <a:ext uri="{FF2B5EF4-FFF2-40B4-BE49-F238E27FC236}">
                <a16:creationId xmlns:a16="http://schemas.microsoft.com/office/drawing/2014/main" id="{19EC5F62-2217-4ECC-E54B-0019334EFB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0004" y="1921970"/>
            <a:ext cx="728442" cy="728442"/>
          </a:xfrm>
          <a:prstGeom prst="rect">
            <a:avLst/>
          </a:prstGeom>
        </p:spPr>
      </p:pic>
      <p:sp>
        <p:nvSpPr>
          <p:cNvPr id="48" name="CuadroTexto 47">
            <a:extLst>
              <a:ext uri="{FF2B5EF4-FFF2-40B4-BE49-F238E27FC236}">
                <a16:creationId xmlns:a16="http://schemas.microsoft.com/office/drawing/2014/main" id="{F844BB57-EECC-AAAC-DCBF-4DA1DD37DF66}"/>
              </a:ext>
            </a:extLst>
          </p:cNvPr>
          <p:cNvSpPr txBox="1"/>
          <p:nvPr/>
        </p:nvSpPr>
        <p:spPr>
          <a:xfrm>
            <a:off x="833945" y="4145559"/>
            <a:ext cx="2724155" cy="39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500" dirty="0" err="1">
                <a:solidFill>
                  <a:srgbClr val="7F7F7F"/>
                </a:solidFill>
                <a:latin typeface="Inter"/>
                <a:ea typeface="Inter"/>
              </a:rPr>
              <a:t>Scale</a:t>
            </a:r>
            <a:r>
              <a:rPr lang="es-ES" sz="1500" dirty="0">
                <a:solidFill>
                  <a:srgbClr val="7F7F7F"/>
                </a:solidFill>
                <a:latin typeface="Inter"/>
                <a:ea typeface="Inter"/>
              </a:rPr>
              <a:t>:</a:t>
            </a:r>
            <a:r>
              <a:rPr lang="es-ES" sz="1500" dirty="0">
                <a:solidFill>
                  <a:schemeClr val="bg1"/>
                </a:solidFill>
                <a:latin typeface="Inter"/>
                <a:ea typeface="Inter"/>
              </a:rPr>
              <a:t> ~3 </a:t>
            </a:r>
            <a:r>
              <a:rPr lang="es-ES" sz="1500" dirty="0" err="1">
                <a:solidFill>
                  <a:schemeClr val="bg1"/>
                </a:solidFill>
                <a:latin typeface="Inter"/>
                <a:ea typeface="Inter"/>
              </a:rPr>
              <a:t>million</a:t>
            </a:r>
            <a:r>
              <a:rPr lang="es-ES" sz="1500" dirty="0">
                <a:solidFill>
                  <a:schemeClr val="bg1"/>
                </a:solidFill>
                <a:latin typeface="Inter"/>
                <a:ea typeface="Inter"/>
              </a:rPr>
              <a:t> tokens</a:t>
            </a:r>
          </a:p>
        </p:txBody>
      </p:sp>
    </p:spTree>
    <p:extLst>
      <p:ext uri="{BB962C8B-B14F-4D97-AF65-F5344CB8AC3E}">
        <p14:creationId xmlns:p14="http://schemas.microsoft.com/office/powerpoint/2010/main" val="428002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C7EAF7-07DA-C6E1-547E-BE8DF90C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61B70A0D-8784-ABC8-DFCB-A716FB270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5258F0-D98E-E634-A13F-A620E887E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05DBB90-AE11-6D3B-D6D8-143ED63E9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8ED2737A-4483-3469-5495-6C9475636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FF8F65-AF19-6BA0-C892-F6CD76691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B352DE-6894-B622-B73A-5801EFBBF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497B6-AE9E-FE3C-3844-AD84CEDCC9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AA037E-F855-BA72-5FB7-B7019E6D9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3BF7F69-F38F-6D3C-8997-54D2328E6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B0725C2-1D33-BE5E-B8EF-20D0F0417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D699547-0E42-4C69-B95F-80AC9C4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480316C-F526-6537-4991-C27F72982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Google Shape;124;p15">
            <a:extLst>
              <a:ext uri="{FF2B5EF4-FFF2-40B4-BE49-F238E27FC236}">
                <a16:creationId xmlns:a16="http://schemas.microsoft.com/office/drawing/2014/main" id="{56505FBA-0082-AEF8-656F-259DF1CED789}"/>
              </a:ext>
            </a:extLst>
          </p:cNvPr>
          <p:cNvSpPr txBox="1"/>
          <p:nvPr/>
        </p:nvSpPr>
        <p:spPr>
          <a:xfrm>
            <a:off x="1413922" y="316536"/>
            <a:ext cx="938320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Baseline Results: </a:t>
            </a:r>
            <a:r>
              <a:rPr lang="en-US" sz="3600" b="1" i="0" u="none" strike="noStrike" cap="none" dirty="0">
                <a:solidFill>
                  <a:srgbClr val="4AE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 Database Queries</a:t>
            </a:r>
            <a:endParaRPr dirty="0">
              <a:solidFill>
                <a:srgbClr val="4AE4BF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B6E921-1527-72DB-F1E1-F40674728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619" y="4269584"/>
            <a:ext cx="4963463" cy="24629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4848CC2-3C9B-87F1-CE3E-AFAF07B0A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525" y="1228593"/>
            <a:ext cx="5981557" cy="296492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C9F1DE3-7206-9FEE-9E4C-000372DF1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8" y="1228593"/>
            <a:ext cx="5981556" cy="2964922"/>
          </a:xfrm>
          <a:prstGeom prst="rect">
            <a:avLst/>
          </a:prstGeom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6F2826C-E535-53A8-DBB8-43D0036E82C8}"/>
              </a:ext>
            </a:extLst>
          </p:cNvPr>
          <p:cNvSpPr/>
          <p:nvPr/>
        </p:nvSpPr>
        <p:spPr>
          <a:xfrm>
            <a:off x="307269" y="4686039"/>
            <a:ext cx="6364783" cy="1835715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Google Shape;128;p15">
            <a:extLst>
              <a:ext uri="{FF2B5EF4-FFF2-40B4-BE49-F238E27FC236}">
                <a16:creationId xmlns:a16="http://schemas.microsoft.com/office/drawing/2014/main" id="{0D2D2DC1-1CE9-4786-E2F1-13D1741069FC}"/>
              </a:ext>
            </a:extLst>
          </p:cNvPr>
          <p:cNvSpPr txBox="1"/>
          <p:nvPr/>
        </p:nvSpPr>
        <p:spPr>
          <a:xfrm>
            <a:off x="488503" y="4815988"/>
            <a:ext cx="6183549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With higher </a:t>
            </a:r>
            <a:r>
              <a:rPr lang="en-US" sz="1600" dirty="0">
                <a:solidFill>
                  <a:srgbClr val="F8FAFC"/>
                </a:solidFill>
                <a:latin typeface="Inter Medium"/>
                <a:ea typeface="Inter Medium"/>
                <a:sym typeface="Inter Medium"/>
              </a:rPr>
              <a:t>values of K, the latency gap between high/medium and low-frequency terms significantly amplifies. This timing variation is exposed to a greater </a:t>
            </a:r>
            <a:r>
              <a:rPr lang="es-ES" sz="1600" dirty="0" err="1">
                <a:solidFill>
                  <a:srgbClr val="F8FAFC"/>
                </a:solidFill>
                <a:latin typeface="Inter Medium"/>
                <a:ea typeface="Inter Medium"/>
              </a:rPr>
              <a:t>extent</a:t>
            </a:r>
            <a:r>
              <a:rPr lang="es-ES" sz="1600" dirty="0">
                <a:solidFill>
                  <a:srgbClr val="F8FAFC"/>
                </a:solidFill>
                <a:latin typeface="Inter Medium"/>
                <a:ea typeface="Inter Medium"/>
              </a:rPr>
              <a:t> </a:t>
            </a:r>
            <a:r>
              <a:rPr lang="en-US" sz="1600" dirty="0">
                <a:solidFill>
                  <a:srgbClr val="F8FAFC"/>
                </a:solidFill>
                <a:latin typeface="Inter Medium"/>
                <a:ea typeface="Inter Medium"/>
                <a:sym typeface="Inter Medium"/>
              </a:rPr>
              <a:t>with shorter queries, a</a:t>
            </a:r>
            <a:r>
              <a:rPr lang="en-US" sz="1600" dirty="0">
                <a:solidFill>
                  <a:srgbClr val="F8FAFC"/>
                </a:solidFill>
                <a:latin typeface="Inter Medium"/>
                <a:ea typeface="Inter Medium"/>
              </a:rPr>
              <a:t>lthough we also see it in the long ones, just somewhat less.</a:t>
            </a:r>
          </a:p>
        </p:txBody>
      </p:sp>
    </p:spTree>
    <p:extLst>
      <p:ext uri="{BB962C8B-B14F-4D97-AF65-F5344CB8AC3E}">
        <p14:creationId xmlns:p14="http://schemas.microsoft.com/office/powerpoint/2010/main" val="319065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6834F-864F-4317-C0B1-FBC3FB91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D5B3FD13-3675-77AF-444A-22785AFE8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57F634-95A5-AF4D-EE9D-4FE7BA930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E1C08ADB-1348-2E05-901F-5C2B44BDB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6892B5A7-0D03-C151-C24B-E317E33F8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78EE84-08FF-1C24-A3B4-038739558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337247-13A2-8073-A65E-CDE26EB7A5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AE87E2-79C8-950C-17C2-E85C4B1BC4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33EA272-AC57-C4B5-DF0A-2FF27C24C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B93D95-1337-E8A8-1393-7AE3DF5A1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9FA42EB-6819-DB39-872E-E781B05BA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CCC991A-3C68-22BB-EADF-A1BFF6819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80A235F-8232-4047-53BC-B130D0645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Google Shape;140;p16">
            <a:extLst>
              <a:ext uri="{FF2B5EF4-FFF2-40B4-BE49-F238E27FC236}">
                <a16:creationId xmlns:a16="http://schemas.microsoft.com/office/drawing/2014/main" id="{1C0954F3-7ACA-589F-FC87-E8C3B839EBE8}"/>
              </a:ext>
            </a:extLst>
          </p:cNvPr>
          <p:cNvSpPr txBox="1"/>
          <p:nvPr/>
        </p:nvSpPr>
        <p:spPr>
          <a:xfrm>
            <a:off x="1651431" y="360540"/>
            <a:ext cx="821908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fr-FR" sz="36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Large </a:t>
            </a:r>
            <a:r>
              <a:rPr lang="fr-FR" sz="3600" b="1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Language</a:t>
            </a:r>
            <a:r>
              <a:rPr lang="fr-FR" sz="36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Model: </a:t>
            </a:r>
            <a:r>
              <a:rPr lang="en-US" sz="3600" b="1" i="0" u="none" strike="noStrike" cap="none" dirty="0">
                <a:solidFill>
                  <a:srgbClr val="4AE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Qwen-2.5-7B</a:t>
            </a:r>
            <a:endParaRPr dirty="0">
              <a:solidFill>
                <a:srgbClr val="4AE4BF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D3C681E-9F68-A421-C6A1-6EB6479C40E0}"/>
              </a:ext>
            </a:extLst>
          </p:cNvPr>
          <p:cNvSpPr/>
          <p:nvPr/>
        </p:nvSpPr>
        <p:spPr>
          <a:xfrm>
            <a:off x="425602" y="4847094"/>
            <a:ext cx="5433374" cy="1613168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Google Shape;145;p16">
            <a:extLst>
              <a:ext uri="{FF2B5EF4-FFF2-40B4-BE49-F238E27FC236}">
                <a16:creationId xmlns:a16="http://schemas.microsoft.com/office/drawing/2014/main" id="{1EA23451-35EC-2D1C-4B60-ADA436EF6885}"/>
              </a:ext>
            </a:extLst>
          </p:cNvPr>
          <p:cNvSpPr txBox="1"/>
          <p:nvPr/>
        </p:nvSpPr>
        <p:spPr>
          <a:xfrm>
            <a:off x="628182" y="4892354"/>
            <a:ext cx="5159036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The massive computational overhead of large models introduces excessive noise, making the underlying database latency differences practically indistinguishable and unmeasurable.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7D7C401-EF8F-1FB6-0C01-337CC0A60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974" y="1275078"/>
            <a:ext cx="6347519" cy="3149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A75802E-3AB6-96B5-7C29-B1220D1A9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8" y="1456635"/>
            <a:ext cx="5623277" cy="278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4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875E1-2F24-BBE7-F1D7-9658FB1B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31FD8801-E1C9-57F0-F6F4-13F21CF3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7F6E3D-3AF8-5160-C07A-0A85D3E21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A81643C-88FF-9B38-537A-603C8EB49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18EB9E35-790C-FA01-E76B-6D028C38D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3B36A-1E06-8E6A-1783-5B3B2CDA8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FEBDB5F-7C48-220B-26FE-8400D083E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27E2F92-5B64-5610-9CDA-229358222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DE3664-310E-0B72-7C3D-D22A4D176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FAB983-AFB5-0051-F904-3FA880ABC8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4451A5-2BD5-767C-BE26-2E1E88904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E25DF6-54EF-A53D-C29F-FD40E1E63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2BE234C-0412-8BA2-3ECA-5294DD2E7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Google Shape;156;p17">
            <a:extLst>
              <a:ext uri="{FF2B5EF4-FFF2-40B4-BE49-F238E27FC236}">
                <a16:creationId xmlns:a16="http://schemas.microsoft.com/office/drawing/2014/main" id="{F18AFC9B-B679-E127-F95C-874928B4E790}"/>
              </a:ext>
            </a:extLst>
          </p:cNvPr>
          <p:cNvSpPr txBox="1"/>
          <p:nvPr/>
        </p:nvSpPr>
        <p:spPr>
          <a:xfrm>
            <a:off x="1708904" y="375339"/>
            <a:ext cx="866343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Small Language Model: </a:t>
            </a:r>
            <a:r>
              <a:rPr lang="en-US" sz="3600" b="1" i="0" u="none" strike="noStrike" cap="none" dirty="0">
                <a:solidFill>
                  <a:srgbClr val="4AE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SmolLM2-135M</a:t>
            </a:r>
            <a:endParaRPr dirty="0">
              <a:solidFill>
                <a:srgbClr val="4AE4BF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2C9F28C-97E2-DC27-E384-A4B6CE5052D1}"/>
              </a:ext>
            </a:extLst>
          </p:cNvPr>
          <p:cNvSpPr/>
          <p:nvPr/>
        </p:nvSpPr>
        <p:spPr>
          <a:xfrm>
            <a:off x="436855" y="4751413"/>
            <a:ext cx="5603764" cy="1735219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Google Shape;160;p17">
            <a:extLst>
              <a:ext uri="{FF2B5EF4-FFF2-40B4-BE49-F238E27FC236}">
                <a16:creationId xmlns:a16="http://schemas.microsoft.com/office/drawing/2014/main" id="{868831CD-D9EB-36D0-A122-D550DDAF75EA}"/>
              </a:ext>
            </a:extLst>
          </p:cNvPr>
          <p:cNvSpPr txBox="1"/>
          <p:nvPr/>
        </p:nvSpPr>
        <p:spPr>
          <a:xfrm>
            <a:off x="613015" y="4858593"/>
            <a:ext cx="5298285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dirty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Using smaller models significantly reduces computational overhead, clearly revealing timing differences that perfectly mirror the latency patterns observed when querying the database directly.</a:t>
            </a:r>
            <a:endParaRPr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815681-260E-7ED4-4660-91309837C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461" y="4110027"/>
            <a:ext cx="5452726" cy="27057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CC57C45-1A6D-9928-F038-8603C0EA7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214" y="1087321"/>
            <a:ext cx="6012973" cy="2980494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2BFBB1E-9117-E66C-19DD-DDF9C87CE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" y="1087321"/>
            <a:ext cx="6012973" cy="298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5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757EE-AF0D-700E-2274-E8A8702F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B32B9A3C-2DBE-F362-9D2A-85732CF5E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53D999-31E2-7666-3832-CE8984C39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DDE00D0B-B7D8-E6F6-39AF-963DCB1E8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109A8D02-CF78-E4C8-9DA1-8E0AB9B34B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2A23AF-D13E-A037-C3F0-36525137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013541-AEDA-37A2-4D7C-56BDA5781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715A49-A382-D13E-00AB-27B9FED83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3FDCE1-5F1E-2AEF-4612-9BC0A73BC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10E47BA-B78F-162A-D3D2-F2DFFC7D9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211C112-B935-F55C-5679-656E563FC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9EA299-AD79-F6D4-6AC5-4C7016A6E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A0C08E-7656-D953-F4C0-920EBFA0D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Google Shape;168;p18">
            <a:extLst>
              <a:ext uri="{FF2B5EF4-FFF2-40B4-BE49-F238E27FC236}">
                <a16:creationId xmlns:a16="http://schemas.microsoft.com/office/drawing/2014/main" id="{8F304224-A1F8-AB3E-636A-8387C4CC6847}"/>
              </a:ext>
            </a:extLst>
          </p:cNvPr>
          <p:cNvSpPr txBox="1"/>
          <p:nvPr/>
        </p:nvSpPr>
        <p:spPr>
          <a:xfrm>
            <a:off x="1450007" y="330899"/>
            <a:ext cx="9288938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 Steps: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200" b="1" i="0" u="none" strike="noStrike" cap="none" dirty="0">
                <a:solidFill>
                  <a:srgbClr val="4AE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Turn Inference Tool</a:t>
            </a:r>
            <a:endParaRPr dirty="0">
              <a:solidFill>
                <a:srgbClr val="4AE4BF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AB55FC9-94D9-E598-960A-FE205B36C5EC}"/>
              </a:ext>
            </a:extLst>
          </p:cNvPr>
          <p:cNvSpPr/>
          <p:nvPr/>
        </p:nvSpPr>
        <p:spPr>
          <a:xfrm>
            <a:off x="380945" y="1549473"/>
            <a:ext cx="5435393" cy="4681645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Google Shape;170;p18">
            <a:extLst>
              <a:ext uri="{FF2B5EF4-FFF2-40B4-BE49-F238E27FC236}">
                <a16:creationId xmlns:a16="http://schemas.microsoft.com/office/drawing/2014/main" id="{6CF16C90-AB6B-B0E3-628C-738AA42879C6}"/>
              </a:ext>
            </a:extLst>
          </p:cNvPr>
          <p:cNvSpPr txBox="1"/>
          <p:nvPr/>
        </p:nvSpPr>
        <p:spPr>
          <a:xfrm>
            <a:off x="681318" y="2830006"/>
            <a:ext cx="4921942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spcAft>
                <a:spcPts val="1200"/>
              </a:spcAft>
            </a:pPr>
            <a:r>
              <a:rPr lang="en-US" sz="1800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Input: </a:t>
            </a:r>
            <a:r>
              <a:rPr lang="en-US" sz="180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tool receives a specific target word chosen by the user/attacker.</a:t>
            </a:r>
          </a:p>
          <a:p>
            <a:pPr lvl="0">
              <a:spcAft>
                <a:spcPts val="1200"/>
              </a:spcAft>
            </a:pPr>
            <a:r>
              <a:rPr lang="en-US" sz="1800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Execution: </a:t>
            </a:r>
            <a:r>
              <a:rPr lang="en-US" sz="180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It automatically generates and sends multiple query rounds containing this specific word to the RAG system.</a:t>
            </a:r>
          </a:p>
          <a:p>
            <a:pPr lvl="0"/>
            <a:r>
              <a:rPr lang="en-US" sz="1800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Timing Measurement: </a:t>
            </a:r>
            <a:r>
              <a:rPr lang="en-US" sz="180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It records the exact microsecond latency of the retrieval phase for every single query executed.</a:t>
            </a:r>
            <a:endParaRPr sz="16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097D535-E45A-84DD-EB6C-5CDAC9E09868}"/>
              </a:ext>
            </a:extLst>
          </p:cNvPr>
          <p:cNvSpPr/>
          <p:nvPr/>
        </p:nvSpPr>
        <p:spPr>
          <a:xfrm>
            <a:off x="5939613" y="1552391"/>
            <a:ext cx="5844683" cy="4678728"/>
          </a:xfrm>
          <a:prstGeom prst="roundRect">
            <a:avLst>
              <a:gd name="adj" fmla="val 3116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Google Shape;171;p18">
            <a:extLst>
              <a:ext uri="{FF2B5EF4-FFF2-40B4-BE49-F238E27FC236}">
                <a16:creationId xmlns:a16="http://schemas.microsoft.com/office/drawing/2014/main" id="{C6D33138-2A95-2E32-EC89-A02D3443CA1D}"/>
              </a:ext>
            </a:extLst>
          </p:cNvPr>
          <p:cNvSpPr txBox="1"/>
          <p:nvPr/>
        </p:nvSpPr>
        <p:spPr>
          <a:xfrm>
            <a:off x="6218159" y="2829508"/>
            <a:ext cx="5360826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spcAft>
                <a:spcPts val="1200"/>
              </a:spcAft>
            </a:pPr>
            <a:r>
              <a:rPr lang="en-US" sz="1800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Statistical Analysis: </a:t>
            </a:r>
            <a:r>
              <a:rPr lang="en-US" sz="180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tool compares the collected timing data against established latency thresholds.</a:t>
            </a:r>
          </a:p>
          <a:p>
            <a:pPr lvl="0">
              <a:spcAft>
                <a:spcPts val="1200"/>
              </a:spcAft>
            </a:pPr>
            <a:r>
              <a:rPr lang="en-US" sz="1800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Frequency Inference: </a:t>
            </a:r>
            <a:r>
              <a:rPr lang="en-US" sz="180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It successfully determines the frequency category (High, Medium, Low) of the target word within the hidden database.</a:t>
            </a:r>
          </a:p>
          <a:p>
            <a:pPr lvl="0"/>
            <a:r>
              <a:rPr lang="en-US" sz="1800" dirty="0">
                <a:solidFill>
                  <a:srgbClr val="7F7F7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Goal: </a:t>
            </a:r>
            <a:r>
              <a:rPr lang="en-US" sz="180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 calculate the exact number of attempts (turns) required to achieve statistical certainty about the word's presence and frequency.</a:t>
            </a:r>
            <a:endParaRPr sz="1600" dirty="0"/>
          </a:p>
        </p:txBody>
      </p:sp>
      <p:sp>
        <p:nvSpPr>
          <p:cNvPr id="9" name="Google Shape;103;p14">
            <a:extLst>
              <a:ext uri="{FF2B5EF4-FFF2-40B4-BE49-F238E27FC236}">
                <a16:creationId xmlns:a16="http://schemas.microsoft.com/office/drawing/2014/main" id="{04B2345B-00FF-E85A-BE9A-1963BD6B1E27}"/>
              </a:ext>
            </a:extLst>
          </p:cNvPr>
          <p:cNvSpPr txBox="1"/>
          <p:nvPr/>
        </p:nvSpPr>
        <p:spPr>
          <a:xfrm>
            <a:off x="1840690" y="1966105"/>
            <a:ext cx="23785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ES" sz="2400" dirty="0" err="1">
                <a:solidFill>
                  <a:srgbClr val="4AE4BF"/>
                </a:solidFill>
                <a:latin typeface="Space Grotesk SemiBold"/>
                <a:cs typeface="Space Grotesk SemiBold"/>
              </a:rPr>
              <a:t>The</a:t>
            </a:r>
            <a:r>
              <a:rPr lang="es-ES" sz="2400" dirty="0">
                <a:solidFill>
                  <a:srgbClr val="4AE4BF"/>
                </a:solidFill>
                <a:latin typeface="Space Grotesk SemiBold"/>
                <a:cs typeface="Space Grotesk SemiBold"/>
              </a:rPr>
              <a:t> </a:t>
            </a:r>
            <a:r>
              <a:rPr lang="es-ES" sz="2400" dirty="0" err="1">
                <a:solidFill>
                  <a:srgbClr val="4AE4BF"/>
                </a:solidFill>
                <a:latin typeface="Space Grotesk SemiBold"/>
                <a:cs typeface="Space Grotesk SemiBold"/>
              </a:rPr>
              <a:t>Mechanism</a:t>
            </a:r>
            <a:endParaRPr sz="2400" dirty="0">
              <a:solidFill>
                <a:srgbClr val="4AE4BF"/>
              </a:solidFill>
              <a:latin typeface="Space Grotesk SemiBold"/>
              <a:cs typeface="Space Grotesk SemiBold"/>
            </a:endParaRPr>
          </a:p>
        </p:txBody>
      </p:sp>
      <p:sp>
        <p:nvSpPr>
          <p:cNvPr id="13" name="Google Shape;103;p14">
            <a:extLst>
              <a:ext uri="{FF2B5EF4-FFF2-40B4-BE49-F238E27FC236}">
                <a16:creationId xmlns:a16="http://schemas.microsoft.com/office/drawing/2014/main" id="{033F0113-08AE-BFDC-E41F-695448E82E8D}"/>
              </a:ext>
            </a:extLst>
          </p:cNvPr>
          <p:cNvSpPr txBox="1"/>
          <p:nvPr/>
        </p:nvSpPr>
        <p:spPr>
          <a:xfrm>
            <a:off x="7467258" y="1960917"/>
            <a:ext cx="20963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ES" sz="2400" dirty="0" err="1">
                <a:solidFill>
                  <a:srgbClr val="4AE4BF"/>
                </a:solidFill>
                <a:latin typeface="Space Grotesk SemiBold"/>
                <a:cs typeface="Space Grotesk SemiBold"/>
              </a:rPr>
              <a:t>The</a:t>
            </a:r>
            <a:r>
              <a:rPr lang="es-ES" sz="2400" dirty="0">
                <a:solidFill>
                  <a:srgbClr val="4AE4BF"/>
                </a:solidFill>
                <a:latin typeface="Space Grotesk SemiBold"/>
                <a:cs typeface="Space Grotesk SemiBold"/>
              </a:rPr>
              <a:t> </a:t>
            </a:r>
            <a:r>
              <a:rPr lang="es-ES" sz="2400" dirty="0" err="1">
                <a:solidFill>
                  <a:srgbClr val="4AE4BF"/>
                </a:solidFill>
                <a:latin typeface="Space Grotesk SemiBold"/>
                <a:cs typeface="Space Grotesk SemiBold"/>
              </a:rPr>
              <a:t>Objective</a:t>
            </a:r>
            <a:endParaRPr sz="2400" dirty="0">
              <a:solidFill>
                <a:srgbClr val="4AE4BF"/>
              </a:solidFill>
              <a:latin typeface="Space Grotesk SemiBold"/>
              <a:cs typeface="Space Grotesk SemiBold"/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990DB122-C3F6-1FBA-FF5B-44A79EEF5AE0}"/>
              </a:ext>
            </a:extLst>
          </p:cNvPr>
          <p:cNvSpPr/>
          <p:nvPr/>
        </p:nvSpPr>
        <p:spPr>
          <a:xfrm>
            <a:off x="889369" y="1777474"/>
            <a:ext cx="762000" cy="736218"/>
          </a:xfrm>
          <a:prstGeom prst="roundRect">
            <a:avLst/>
          </a:prstGeom>
          <a:solidFill>
            <a:srgbClr val="4AE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8AED5359-47C5-0465-84AC-E0DA032FAFD8}"/>
              </a:ext>
            </a:extLst>
          </p:cNvPr>
          <p:cNvSpPr/>
          <p:nvPr/>
        </p:nvSpPr>
        <p:spPr>
          <a:xfrm>
            <a:off x="6458593" y="1771448"/>
            <a:ext cx="762000" cy="736218"/>
          </a:xfrm>
          <a:prstGeom prst="roundRect">
            <a:avLst/>
          </a:prstGeom>
          <a:solidFill>
            <a:srgbClr val="4AE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5" name="Gráfico 24" descr="Objetivo contorno">
            <a:extLst>
              <a:ext uri="{FF2B5EF4-FFF2-40B4-BE49-F238E27FC236}">
                <a16:creationId xmlns:a16="http://schemas.microsoft.com/office/drawing/2014/main" id="{0B9F9AB1-D23A-2787-AC81-CBE50EFB2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2127" y="1804684"/>
            <a:ext cx="654931" cy="654931"/>
          </a:xfrm>
          <a:prstGeom prst="rect">
            <a:avLst/>
          </a:prstGeom>
        </p:spPr>
      </p:pic>
      <p:pic>
        <p:nvPicPr>
          <p:cNvPr id="27" name="Gráfico 26" descr="Engranajes contorno">
            <a:extLst>
              <a:ext uri="{FF2B5EF4-FFF2-40B4-BE49-F238E27FC236}">
                <a16:creationId xmlns:a16="http://schemas.microsoft.com/office/drawing/2014/main" id="{8ABCE87D-C121-1D35-ADB6-A02E2B5DDB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645" y="1767562"/>
            <a:ext cx="736218" cy="73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13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479</Words>
  <Application>Microsoft Office PowerPoint</Application>
  <PresentationFormat>Panorámica</PresentationFormat>
  <Paragraphs>38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Calibri</vt:lpstr>
      <vt:lpstr>Arial</vt:lpstr>
      <vt:lpstr>Space Grotesk SemiBold</vt:lpstr>
      <vt:lpstr>Inter SemiBold</vt:lpstr>
      <vt:lpstr>Inter Medium</vt:lpstr>
      <vt:lpstr>Space Grotesk</vt:lpstr>
      <vt:lpstr>Inter</vt:lpstr>
      <vt:lpstr>Office Theme</vt:lpstr>
      <vt:lpstr>Exploiting Retrieval Latency Side-Channels in RAG Systems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Sergio Verde Llorente</cp:lastModifiedBy>
  <cp:revision>4</cp:revision>
  <dcterms:modified xsi:type="dcterms:W3CDTF">2026-03-25T14:17:46Z</dcterms:modified>
</cp:coreProperties>
</file>